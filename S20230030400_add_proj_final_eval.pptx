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034" autoAdjust="0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43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367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457200"/>
            <a:ext cx="228600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0880" y="640080"/>
            <a:ext cx="1920240" cy="1920240"/>
          </a:xfrm>
          <a:prstGeom prst="rect">
            <a:avLst/>
          </a:prstGeom>
          <a:solidFill>
            <a:srgbClr val="0A0F1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822960"/>
            <a:ext cx="1188720" cy="1188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80060"/>
            <a:ext cx="2377440" cy="320040"/>
          </a:xfrm>
          <a:prstGeom prst="roundRect">
            <a:avLst>
              <a:gd name="adj" fmla="val 14286"/>
            </a:avLst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  <p:txBody>
          <a:bodyPr/>
          <a:lstStyle/>
          <a:p>
            <a:r>
              <a:rPr lang="en-US" sz="1050" b="1" dirty="0">
                <a:solidFill>
                  <a:srgbClr val="FFFFFF"/>
                </a:solidFill>
              </a:rPr>
              <a:t>FINAL PROJECT — ROBOTICS CONTROL</a:t>
            </a:r>
            <a:endParaRPr lang="en-US" sz="1050" dirty="0"/>
          </a:p>
          <a:p>
            <a:endParaRPr lang="en-IN" sz="1050" dirty="0"/>
          </a:p>
        </p:txBody>
      </p:sp>
      <p:sp>
        <p:nvSpPr>
          <p:cNvPr id="7" name="Text 4"/>
          <p:cNvSpPr/>
          <p:nvPr/>
        </p:nvSpPr>
        <p:spPr>
          <a:xfrm>
            <a:off x="4572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82880" y="1316742"/>
            <a:ext cx="6309360" cy="1353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00" b="1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Hybrid PID-MPC Control </a:t>
            </a:r>
            <a:r>
              <a:rPr lang="en-US" sz="3200" b="1" dirty="0">
                <a:solidFill>
                  <a:srgbClr val="00B0F0"/>
                </a:solidFill>
              </a:rPr>
              <a:t>for Quadcopters under External Disturbances</a:t>
            </a:r>
            <a:endParaRPr lang="en-IN" sz="32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sz="3400" b="1" dirty="0">
              <a:solidFill>
                <a:srgbClr val="00B0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57200" y="2423160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57200" y="3200400"/>
            <a:ext cx="54864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429000"/>
            <a:ext cx="548640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56616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BABC7"/>
                </a:solidFill>
              </a:rPr>
              <a:t>Simulation Environment: </a:t>
            </a:r>
            <a:r>
              <a:rPr lang="en-US" sz="1200" b="1" dirty="0">
                <a:solidFill>
                  <a:srgbClr val="00C2FF"/>
                </a:solidFill>
              </a:rPr>
              <a:t>gym-pybullet-drones  </a:t>
            </a:r>
            <a:r>
              <a:rPr lang="en-US" sz="1200" dirty="0">
                <a:solidFill>
                  <a:srgbClr val="9BABC7"/>
                </a:solidFill>
              </a:rPr>
              <a:t>  |  Controllers: </a:t>
            </a:r>
            <a:r>
              <a:rPr lang="en-US" sz="1200" b="1" dirty="0">
                <a:solidFill>
                  <a:srgbClr val="00E5A0"/>
                </a:solidFill>
              </a:rPr>
              <a:t>PID · MPC · PID+MPC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BABC7"/>
                </a:solidFill>
              </a:rPr>
              <a:t>Trajectories: </a:t>
            </a:r>
            <a:r>
              <a:rPr lang="en-US" sz="1200" b="1" dirty="0">
                <a:solidFill>
                  <a:srgbClr val="00C2FF"/>
                </a:solidFill>
              </a:rPr>
              <a:t>Circle &amp; Figure-8  </a:t>
            </a:r>
            <a:r>
              <a:rPr lang="en-US" sz="1200" dirty="0">
                <a:solidFill>
                  <a:srgbClr val="9BABC7"/>
                </a:solidFill>
              </a:rPr>
              <a:t>  |  Disturbances: </a:t>
            </a:r>
            <a:r>
              <a:rPr lang="en-US" sz="1200" b="1" dirty="0">
                <a:solidFill>
                  <a:srgbClr val="FF6B35"/>
                </a:solidFill>
              </a:rPr>
              <a:t>Wind · Payload · Combined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65192"/>
            <a:ext cx="91440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BC7"/>
                </a:solidFill>
              </a:rPr>
              <a:t>IEEE RA-L / ICRA Potential Submission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78892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78892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1828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Wind Disturbances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Real-world UAVs face unpredictable wind gusts that push them off their planned trajectories, demanding real-time disturbance rejection.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27832" y="1143000"/>
            <a:ext cx="278892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27832" y="1143000"/>
            <a:ext cx="278892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12801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19272" y="1828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Unknown Payloads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19272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Delivery drones carry packages of unknown weight. Unmodeled mass changes thrust requirements and corrupts altitude tracking.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81344" y="1143000"/>
            <a:ext cx="278892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81344" y="1143000"/>
            <a:ext cx="278892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28016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2784" y="1828800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Compute Constraints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272784" y="228600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Pure NMPC demands significant CPU to run fast enough. Standard PID lacks predictive capability. A hybrid approach is needed.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274320" y="3611880"/>
            <a:ext cx="8595360" cy="1234440"/>
          </a:xfrm>
          <a:prstGeom prst="rect">
            <a:avLst/>
          </a:prstGeom>
          <a:solidFill>
            <a:srgbClr val="162040"/>
          </a:solidFill>
          <a:ln w="19050">
            <a:solidFill>
              <a:srgbClr val="00C2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79476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7490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Objective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1051560" y="411480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Design, simulate, and validate a robust hybrid controller capable of smooth trajectory tracking under severe wind and payload disturbances while maintaining physical feasibility and safety.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2651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EA8DE"/>
                </a:solidFill>
              </a:rPr>
              <a:t>State of the Art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164592" cy="164592"/>
          </a:xfrm>
          <a:prstGeom prst="ellipse">
            <a:avLst/>
          </a:prstGeom>
          <a:solidFill>
            <a:srgbClr val="4EA8DE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719072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[1] Standard PX4 flight stacks use cascaded PID — fast but no predictive foresight.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164592" cy="164592"/>
          </a:xfrm>
          <a:prstGeom prst="ellipse">
            <a:avLst/>
          </a:prstGeom>
          <a:solidFill>
            <a:srgbClr val="4EA8DE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194560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[2] Pure NMPC offers optimality but is CPU-heavy at high frequencies (Kamel et al., 2017).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688336"/>
            <a:ext cx="164592" cy="164592"/>
          </a:xfrm>
          <a:prstGeom prst="ellipse">
            <a:avLst/>
          </a:prstGeom>
          <a:solidFill>
            <a:srgbClr val="4EA8D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670048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[3] Geometric SE(3) controllers provide stability but are reactive (Lee et al., 2010).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63824"/>
            <a:ext cx="164592" cy="164592"/>
          </a:xfrm>
          <a:prstGeom prst="ellipse">
            <a:avLst/>
          </a:prstGeom>
          <a:solidFill>
            <a:srgbClr val="4EA8DE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145536"/>
            <a:ext cx="3520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[4] LQR provides asymptotic stability for linear systems (Anderson &amp; Moore, 1990).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43000"/>
            <a:ext cx="4114800" cy="26517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143000"/>
            <a:ext cx="4114800" cy="640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Identified Research Gap</a:t>
            </a:r>
            <a:endParaRPr lang="en-US" sz="15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69164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846320" y="21945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No computationally efficient architecture combines MPC's predictive trajectory planning with a geometric PID's fast disturbance rejection to handle dynamic mass uncertainties without explicit adaptive estimation.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4632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BABC7"/>
                </a:solidFill>
              </a:rPr>
              <a:t>[5] Actuator saturation analysis: Tarbouriech et al., Springer (2011)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1A0A30"/>
          </a:solidFill>
          <a:ln w="19050">
            <a:solidFill>
              <a:srgbClr val="7B2FBE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0"/>
            <a:ext cx="411480" cy="41148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005840" y="40416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Our Contribution: A Multi-Rate Hybrid PID+MPC that separates concerns — slow predictive planning from fast reactive stabilization — without requiring payload estimation.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Multi-Rate Hybrid Controller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463040" cy="685800"/>
          </a:xfrm>
          <a:prstGeom prst="rect">
            <a:avLst/>
          </a:prstGeom>
          <a:solidFill>
            <a:srgbClr val="1A2744"/>
          </a:solidFill>
          <a:ln w="25400">
            <a:solidFill>
              <a:srgbClr val="9BAB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ABC7"/>
                </a:solidFill>
              </a:rPr>
              <a:t>Reference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BABC7"/>
                </a:solidFill>
              </a:rPr>
              <a:t>Trajectory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1188720"/>
            <a:ext cx="1828800" cy="685800"/>
          </a:xfrm>
          <a:prstGeom prst="rect">
            <a:avLst/>
          </a:prstGeom>
          <a:solidFill>
            <a:srgbClr val="1A2744"/>
          </a:solidFill>
          <a:ln w="254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</a:rPr>
              <a:t>MPC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C2FF"/>
                </a:solidFill>
              </a:rPr>
              <a:t>(Outer Loop 24Hz)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931920" y="1188720"/>
            <a:ext cx="1828800" cy="685800"/>
          </a:xfrm>
          <a:prstGeom prst="rect">
            <a:avLst/>
          </a:prstGeom>
          <a:solidFill>
            <a:srgbClr val="1A2744"/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Disturbance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6B35"/>
                </a:solidFill>
              </a:rPr>
              <a:t>Integrator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1188720"/>
            <a:ext cx="1828800" cy="685800"/>
          </a:xfrm>
          <a:prstGeom prst="rect">
            <a:avLst/>
          </a:prstGeom>
          <a:solidFill>
            <a:srgbClr val="1A2744"/>
          </a:solidFill>
          <a:ln w="25400">
            <a:solidFill>
              <a:srgbClr val="4EA8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1887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A8DE"/>
                </a:solidFill>
              </a:rPr>
              <a:t>PID/Geometric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4EA8DE"/>
                </a:solidFill>
              </a:rPr>
              <a:t>(Inner Loop 48Hz)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55280" y="1188720"/>
            <a:ext cx="1005840" cy="685800"/>
          </a:xfrm>
          <a:prstGeom prst="rect">
            <a:avLst/>
          </a:prstGeom>
          <a:solidFill>
            <a:srgbClr val="1A2744"/>
          </a:solidFill>
          <a:ln w="254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1188720"/>
            <a:ext cx="1005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</a:rPr>
              <a:t>Drone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E5A0"/>
                </a:solidFill>
              </a:rPr>
              <a:t>Actuators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91640" y="1527048"/>
            <a:ext cx="228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527048"/>
            <a:ext cx="228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60720" y="1527048"/>
            <a:ext cx="228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1527048"/>
            <a:ext cx="2286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103120"/>
            <a:ext cx="205740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2103120"/>
            <a:ext cx="205740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2212848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1520" y="21945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</a:rPr>
              <a:t>MPC Outer Loop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" y="2468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BC7"/>
                </a:solidFill>
              </a:rPr>
              <a:t>OSQP via CVXPY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0040" y="278892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Plans optimal acceleration over 20-step horizon @ 24Hz. Penalizes position/velocity error and angular aggressiveness via tuned Q &amp; R matrices. Explicit lateral/altitude constraints.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468880" y="2103120"/>
            <a:ext cx="205740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468880" y="2103120"/>
            <a:ext cx="2057400" cy="54864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2032" y="2212848"/>
            <a:ext cx="365760" cy="36576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971800" y="21945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A8DE"/>
                </a:solidFill>
              </a:rPr>
              <a:t>PID Inner Loop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2971800" y="2468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BC7"/>
                </a:solidFill>
              </a:rPr>
              <a:t>Geometric Attitude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2560320" y="278892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Converts MPC's optimal acceleration to roll/pitch/thrust commands via accel_to_attitude mapping. Runs at 48Hz for fast attitude stabilization.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709160" y="2103120"/>
            <a:ext cx="205740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709160" y="2103120"/>
            <a:ext cx="205740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2312" y="2212848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5212080" y="21945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Disturbance Integrator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212080" y="2468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BC7"/>
                </a:solidFill>
              </a:rPr>
              <a:t>Mass-Agnostic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4800600" y="278892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State-space integrator estimates unmodeled payload thrust deficit and wind forces from velocity/position errors. Injected before saturation.</a:t>
            </a:r>
            <a:endParaRPr lang="en-US" sz="950" dirty="0"/>
          </a:p>
        </p:txBody>
      </p:sp>
      <p:sp>
        <p:nvSpPr>
          <p:cNvPr id="38" name="Shape 33"/>
          <p:cNvSpPr/>
          <p:nvPr/>
        </p:nvSpPr>
        <p:spPr>
          <a:xfrm>
            <a:off x="6949440" y="2103120"/>
            <a:ext cx="2057400" cy="2560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6949440" y="2103120"/>
            <a:ext cx="205740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2592" y="2212848"/>
            <a:ext cx="365760" cy="365760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7452360" y="219456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LQR Fallback</a:t>
            </a:r>
            <a:endParaRPr lang="en-US" sz="1100" dirty="0"/>
          </a:p>
        </p:txBody>
      </p:sp>
      <p:sp>
        <p:nvSpPr>
          <p:cNvPr id="42" name="Text 36"/>
          <p:cNvSpPr/>
          <p:nvPr/>
        </p:nvSpPr>
        <p:spPr>
          <a:xfrm>
            <a:off x="7452360" y="246888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BABC7"/>
                </a:solidFill>
              </a:rPr>
              <a:t>Solver Failure Recovery</a:t>
            </a:r>
            <a:endParaRPr lang="en-US" sz="900" dirty="0"/>
          </a:p>
        </p:txBody>
      </p:sp>
      <p:sp>
        <p:nvSpPr>
          <p:cNvPr id="43" name="Text 37"/>
          <p:cNvSpPr/>
          <p:nvPr/>
        </p:nvSpPr>
        <p:spPr>
          <a:xfrm>
            <a:off x="7040880" y="2788920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Infinite-horizon LQR backup activates if OSQP solver fails under extreme disturbances. Guarantees asymptotic stability at all times.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Details &amp; Safety Measures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4206240" cy="3200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42062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Drone Constraints &amp; Saturation [5]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0040" y="1828800"/>
            <a:ext cx="4023360" cy="384048"/>
          </a:xfrm>
          <a:prstGeom prst="rect">
            <a:avLst/>
          </a:prstGeom>
          <a:solidFill>
            <a:srgbClr val="121E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85623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Lateral Acceleration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880360" y="18562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C2FF"/>
                </a:solidFill>
              </a:rPr>
              <a:t>±4.0 m/s²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4023360" cy="384048"/>
          </a:xfrm>
          <a:prstGeom prst="rect">
            <a:avLst/>
          </a:prstGeom>
          <a:solidFill>
            <a:srgbClr val="121E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Vertical Velocity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880360" y="2331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C2FF"/>
                </a:solidFill>
              </a:rPr>
              <a:t>±4.0 m/s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0040" y="2779776"/>
            <a:ext cx="4023360" cy="384048"/>
          </a:xfrm>
          <a:prstGeom prst="rect">
            <a:avLst/>
          </a:prstGeom>
          <a:solidFill>
            <a:srgbClr val="121E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" y="28072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Altitude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2880360" y="28072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C2FF"/>
                </a:solidFill>
              </a:rPr>
              <a:t>Z ≥ 0.0 m (no ground collision)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20040" y="3255264"/>
            <a:ext cx="4023360" cy="384048"/>
          </a:xfrm>
          <a:prstGeom prst="rect">
            <a:avLst/>
          </a:prstGeom>
          <a:solidFill>
            <a:srgbClr val="121E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28269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Z-axis Integral (Anti-windup)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2880360" y="32826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C2FF"/>
                </a:solidFill>
              </a:rPr>
              <a:t>[-2.0, +10.0] N·s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20040" y="3730752"/>
            <a:ext cx="4023360" cy="384048"/>
          </a:xfrm>
          <a:prstGeom prst="rect">
            <a:avLst/>
          </a:prstGeom>
          <a:solidFill>
            <a:srgbClr val="121E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7581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Lateral Integral (Anti-windup)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880360" y="37581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0C2FF"/>
                </a:solidFill>
              </a:rPr>
              <a:t>[-1.0, +1.0] N·s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709160" y="1143000"/>
            <a:ext cx="4206240" cy="320040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09160" y="1143000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34440"/>
            <a:ext cx="411480" cy="4114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285232" y="12618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Safety Logic &amp; Failsafes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4800600" y="1874520"/>
            <a:ext cx="182880" cy="1828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0" name="Text 26"/>
          <p:cNvSpPr/>
          <p:nvPr/>
        </p:nvSpPr>
        <p:spPr>
          <a:xfrm>
            <a:off x="5074920" y="181965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LQR Fallback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50749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BC7"/>
                </a:solidFill>
              </a:rPr>
              <a:t>Activates instantly if OSQP fails to converge — guarantees asymptotic stability.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800600" y="2514600"/>
            <a:ext cx="182880" cy="1828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3" name="Text 29"/>
          <p:cNvSpPr/>
          <p:nvPr/>
        </p:nvSpPr>
        <p:spPr>
          <a:xfrm>
            <a:off x="5074920" y="245973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Emergency Safe Landing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5074920" y="2697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BC7"/>
                </a:solidFill>
              </a:rPr>
              <a:t>If tracking error &gt; threshold for &gt; 1.0 s, drone aborts trajectory and executes controlled descent.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4800600" y="3154680"/>
            <a:ext cx="182880" cy="1828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6" name="Text 32"/>
          <p:cNvSpPr/>
          <p:nvPr/>
        </p:nvSpPr>
        <p:spPr>
          <a:xfrm>
            <a:off x="5074920" y="309981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Geometric Projection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07492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BC7"/>
                </a:solidFill>
              </a:rPr>
              <a:t>accel_to_attitude_thrust maps world-frame acceleration to body-frame roll/pitch based on current yaw.</a:t>
            </a:r>
            <a:endParaRPr lang="en-US" sz="950" dirty="0"/>
          </a:p>
        </p:txBody>
      </p:sp>
      <p:sp>
        <p:nvSpPr>
          <p:cNvPr id="38" name="Shape 34"/>
          <p:cNvSpPr/>
          <p:nvPr/>
        </p:nvSpPr>
        <p:spPr>
          <a:xfrm>
            <a:off x="4800600" y="3794760"/>
            <a:ext cx="182880" cy="182880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39" name="Text 35"/>
          <p:cNvSpPr/>
          <p:nvPr/>
        </p:nvSpPr>
        <p:spPr>
          <a:xfrm>
            <a:off x="5074920" y="37398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Integral Anti-Windup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507492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BABC7"/>
                </a:solidFill>
              </a:rPr>
              <a:t>Z-axis integrator allows large bounds for lift; lateral clamped to preserve differential tilt authority.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Circle Trajectory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4EA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A8DE"/>
                </a:solidFill>
              </a:rPr>
              <a:t>Wind Only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99032"/>
            <a:ext cx="274320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546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</a:rPr>
              <a:t>Payload Only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399032"/>
            <a:ext cx="2743200" cy="2834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264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</a:rPr>
              <a:t>Wind + Payload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399032"/>
            <a:ext cx="2743200" cy="2834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82880" y="4434840"/>
            <a:ext cx="8778240" cy="5943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446227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 Wind Only: PID+MPC (0.0641) achieves best robustness — 38% lower error than MPC (0.1068). Wind+Payload: PID+MPC (0.3380) edges out MPC (0.3446), proving hybrid resilience under combined disturbances.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Figure-8 Trajectory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828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4EA8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A8DE"/>
                </a:solidFill>
              </a:rPr>
              <a:t>Wind Only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1399032"/>
            <a:ext cx="2743200" cy="28346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546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FF6B3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1546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35"/>
                </a:solidFill>
              </a:rPr>
              <a:t>Payload Only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200400" y="1399032"/>
            <a:ext cx="2743200" cy="2834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1051560"/>
            <a:ext cx="2834640" cy="3246120"/>
          </a:xfrm>
          <a:prstGeom prst="rect">
            <a:avLst/>
          </a:prstGeom>
          <a:solidFill>
            <a:srgbClr val="1A2744"/>
          </a:solidFill>
          <a:ln w="15240">
            <a:solidFill>
              <a:srgbClr val="7B2FB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26480" y="105156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</a:rPr>
              <a:t>Wind + Payload</a:t>
            </a:r>
            <a:endParaRPr lang="en-US" sz="12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72200" y="1399032"/>
            <a:ext cx="2743200" cy="283464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182880" y="4434840"/>
            <a:ext cx="8778240" cy="594360"/>
          </a:xfrm>
          <a:prstGeom prst="rect">
            <a:avLst/>
          </a:prstGeom>
          <a:solidFill>
            <a:srgbClr val="16204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" y="4462272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✦  Wind Only: PID+MPC (0.0407 RMSE) outperforms MPC (0.0758). Payload Only: PID+MPC dominates with 0.0397 vs MPC's 0.0683 — 42% lower error. Wind+Payload: PID+MPC achieves 0.2970 vs MPC's 0.3112.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 — RMSE Summary(Circle)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3423251"/>
              </p:ext>
            </p:extLst>
          </p:nvPr>
        </p:nvGraphicFramePr>
        <p:xfrm>
          <a:off x="182880" y="1143000"/>
          <a:ext cx="8778240" cy="201168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Trajectory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6B35"/>
                          </a:solidFill>
                        </a:rPr>
                        <a:t>PID RMSE (m)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4EA8DE"/>
                          </a:solidFill>
                        </a:rPr>
                        <a:t>MPC RMSE (m)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E5A0"/>
                          </a:solidFill>
                        </a:rPr>
                        <a:t>PID+MPC RMSE (m)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C2FF"/>
                          </a:solidFill>
                        </a:rPr>
                        <a:t>Best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Circle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Nominal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</a:rPr>
                        <a:t>1.1562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EA8DE"/>
                          </a:solidFill>
                        </a:rPr>
                        <a:t>0.0467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</a:rPr>
                        <a:t>0.5907 †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MPC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Circle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Wind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</a:rPr>
                        <a:t>0.0465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EA8DE"/>
                          </a:solidFill>
                        </a:rPr>
                        <a:t>0.1068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</a:rPr>
                        <a:t>0.0641 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PID+MPC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Circle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Payload Only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</a:rPr>
                        <a:t>0.0466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EA8DE"/>
                          </a:solidFill>
                        </a:rPr>
                        <a:t>0.0738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</a:rPr>
                        <a:t>0.0738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PID(less error but not smooth)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Circle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9BABC7"/>
                          </a:solidFill>
                        </a:rPr>
                        <a:t>Wind + Payload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6B35"/>
                          </a:solidFill>
                        </a:rPr>
                        <a:t>0.1296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4EA8DE"/>
                          </a:solidFill>
                        </a:rPr>
                        <a:t>0.3446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E5A0"/>
                          </a:solidFill>
                        </a:rPr>
                        <a:t>0.3380 ✦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00C2FF"/>
                          </a:solidFill>
                        </a:rPr>
                        <a:t>PID+MPC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3337560"/>
            <a:ext cx="87782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337413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✦ PID+MPC Best Robustness: Wind+Payload RMSE 0.3380 — beats MPC (0.3446) and PID (0.1296 but less robust)</a:t>
            </a:r>
            <a:endParaRPr lang="en-US" sz="950" dirty="0"/>
          </a:p>
        </p:txBody>
      </p:sp>
      <p:sp>
        <p:nvSpPr>
          <p:cNvPr id="6" name="Shape 6"/>
          <p:cNvSpPr/>
          <p:nvPr/>
        </p:nvSpPr>
        <p:spPr>
          <a:xfrm>
            <a:off x="182880" y="3849624"/>
            <a:ext cx="87782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88620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† Nominal: MPC alone achieves 0.0467 RMSE. PID+MPC at 0.5907 reflects fast-stable tracking priority over pure optimality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2880" y="4361688"/>
            <a:ext cx="87782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39826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Payload Only: PID still competitive at 0.0466 — disturbance integrator ensures PID+MPC matches MPC exactly (0.0738)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Key Research Contributions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143000"/>
            <a:ext cx="86868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43000"/>
            <a:ext cx="54864" cy="10972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52728"/>
            <a:ext cx="658368" cy="658368"/>
          </a:xfrm>
          <a:prstGeom prst="rect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2527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C2FF"/>
                </a:solidFill>
              </a:rPr>
              <a:t>01</a:t>
            </a:r>
            <a:endParaRPr lang="en-US" sz="2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139903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27632" y="125272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Multi-Rate Separation of Concerns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627632" y="160020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MPC operates at 24Hz for predictive planning while the geometric PID runs at 48Hz for fast stabilization. Proves slow-predictive + fast-reactive outperforms monolithic controllers under disturbances.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28600" y="2377440"/>
            <a:ext cx="86868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" y="2377440"/>
            <a:ext cx="54864" cy="10972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0040" y="2487168"/>
            <a:ext cx="658368" cy="658368"/>
          </a:xfrm>
          <a:prstGeom prst="rect">
            <a:avLst/>
          </a:prstGeom>
          <a:solidFill>
            <a:srgbClr val="FF6B35">
              <a:alpha val="2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4871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6B35"/>
                </a:solidFill>
              </a:rPr>
              <a:t>02</a:t>
            </a:r>
            <a:endParaRPr lang="en-US" sz="20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633472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627632" y="248716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Mass-Agnostic Disturbance Rejection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627632" y="283464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Achieves robust trajectory tracking without explicitly estimating payload mass. Bounded Z-axis integrator compensates for up to 55% unmodeled thrust deficit dynamically.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28600" y="3611880"/>
            <a:ext cx="8686800" cy="10972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28600" y="3611880"/>
            <a:ext cx="54864" cy="10972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20040" y="3721608"/>
            <a:ext cx="658368" cy="658368"/>
          </a:xfrm>
          <a:prstGeom prst="rect">
            <a:avLst/>
          </a:prstGeom>
          <a:solidFill>
            <a:srgbClr val="00E5A0">
              <a:alpha val="20000"/>
            </a:srgbClr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" y="37216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E5A0"/>
                </a:solidFill>
              </a:rPr>
              <a:t>03</a:t>
            </a:r>
            <a:endParaRPr lang="en-US" sz="2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86791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627632" y="3721608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Safety-Critical Hardware-Ready Stack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627632" y="4069080"/>
            <a:ext cx="7132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Combines LQR solver-failure fallback + persistent-error emergency landing. Creates a complete, deployable flight stack with guaranteed safe behavior under extreme conditions.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4572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Limitations, Future Scope &amp; Publication Potential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" y="1097280"/>
            <a:ext cx="4206240" cy="1920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097280"/>
            <a:ext cx="4206240" cy="5486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887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1216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Limitations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162763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Linear MPC assumes decoupled double-integrator dynamics — accuracy degrades at tilt angles &gt; 30°.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MPC weights (Q, R) and constraints manually tuned for specific drone mass and trajectory.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Simulation only — real hardware deployment pending RTF (Real-Time Factor) validation.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09160" y="1097280"/>
            <a:ext cx="4206240" cy="1920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09160" y="1097280"/>
            <a:ext cx="4206240" cy="548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21615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2FF"/>
                </a:solidFill>
              </a:rPr>
              <a:t>Future Scope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800600" y="1627632"/>
            <a:ext cx="4023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RL Agent to auto-tune Q &amp; R matrices in-flight for unknown environments.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Recovery Hover logic: drone detects large deviation, hovers, then re-plans smoothly.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ABC7"/>
                </a:solidFill>
              </a:rPr>
              <a:t>• Deployment on Raspberry Pi 4 onboard computer and real wind tunnel tests.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228600" y="3154680"/>
            <a:ext cx="420624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28600" y="3154680"/>
            <a:ext cx="4206240" cy="548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20040" y="321868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A0"/>
                </a:solidFill>
              </a:rPr>
              <a:t>Applications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320040" y="3611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Drone delivery in urban wind corridors  ·  Agricultural UAVs carrying sensor/pesticide payloads  ·  Search &amp; rescue in GPS-denied environments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709160" y="3154680"/>
            <a:ext cx="4206240" cy="1463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709160" y="3154680"/>
            <a:ext cx="4206240" cy="54864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3218688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230368" y="3218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FBE"/>
                </a:solidFill>
              </a:rPr>
              <a:t>Publication Potential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00600" y="3611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BABC7"/>
                </a:solidFill>
              </a:rPr>
              <a:t>Target: </a:t>
            </a:r>
            <a:r>
              <a:rPr lang="en-US" sz="1050" b="1" dirty="0">
                <a:solidFill>
                  <a:srgbClr val="7B2FBE"/>
                </a:solidFill>
              </a:rPr>
              <a:t>IEEE RA-L  /  ICRA  /  IROS
</a:t>
            </a:r>
            <a:r>
              <a:rPr lang="en-US" sz="1050" dirty="0">
                <a:solidFill>
                  <a:srgbClr val="9BABC7"/>
                </a:solidFill>
              </a:rPr>
              <a:t>Next Steps: </a:t>
            </a:r>
            <a:r>
              <a:rPr lang="en-US" sz="1050" dirty="0">
                <a:solidFill>
                  <a:srgbClr val="FFFFFF"/>
                </a:solidFill>
              </a:rPr>
              <a:t>High-res error plots  ·  RTF benchmarking  ·  Extended disturbance tests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507034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82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2FBE"/>
                </a:solidFill>
              </a:rPr>
              <a:t>11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457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475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82880" y="1097280"/>
            <a:ext cx="502920" cy="658368"/>
          </a:xfrm>
          <a:prstGeom prst="rect">
            <a:avLst/>
          </a:prstGeom>
          <a:solidFill>
            <a:srgbClr val="FF6B35">
              <a:alpha val="20000"/>
            </a:srgbClr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" y="1097280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6B35"/>
                </a:solidFill>
              </a:rPr>
              <a:t>[1]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1097280"/>
            <a:ext cx="8229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1097280"/>
            <a:ext cx="36576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1133856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Brescianini, D., Hehn, M., &amp; D'Andrea, R. (2018). Nonlinear quadrotor trajectory tracking using differentially flat trajectory generation and a geometric controller.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896112" y="14996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6B35"/>
                </a:solidFill>
              </a:rPr>
              <a:t>IEEE Robotics and Automation Letters, 3(3), 2018.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82880" y="1865376"/>
            <a:ext cx="502920" cy="658368"/>
          </a:xfrm>
          <a:prstGeom prst="rect">
            <a:avLst/>
          </a:prstGeom>
          <a:solidFill>
            <a:srgbClr val="4EA8DE">
              <a:alpha val="20000"/>
            </a:srgbClr>
          </a:solidFill>
          <a:ln w="19050">
            <a:solidFill>
              <a:srgbClr val="4EA8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82880" y="1865376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EA8DE"/>
                </a:solidFill>
              </a:rPr>
              <a:t>[2]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1865376"/>
            <a:ext cx="8229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77240" y="1865376"/>
            <a:ext cx="36576" cy="658368"/>
          </a:xfrm>
          <a:prstGeom prst="rect">
            <a:avLst/>
          </a:prstGeom>
          <a:solidFill>
            <a:srgbClr val="4EA8DE"/>
          </a:solidFill>
          <a:ln w="12700">
            <a:solidFill>
              <a:srgbClr val="4EA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96112" y="1901952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Kamel, M., Stastny, T., Alexis, K., &amp; Siegwart, R. (2017). Model predictive control for trajectory tracking of unmanned aerial vehicles using robot operating system.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96112" y="226771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EA8DE"/>
                </a:solidFill>
              </a:rPr>
              <a:t>IFAC-PapersOnLine, 50(1), 2017.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82880" y="2633472"/>
            <a:ext cx="502920" cy="658368"/>
          </a:xfrm>
          <a:prstGeom prst="rect">
            <a:avLst/>
          </a:prstGeom>
          <a:solidFill>
            <a:srgbClr val="00E5A0">
              <a:alpha val="20000"/>
            </a:srgbClr>
          </a:solidFill>
          <a:ln w="19050">
            <a:solidFill>
              <a:srgbClr val="00E5A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82880" y="2633472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5A0"/>
                </a:solidFill>
              </a:rPr>
              <a:t>[3]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77240" y="2633472"/>
            <a:ext cx="8229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7240" y="2633472"/>
            <a:ext cx="36576" cy="65836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96112" y="2670048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Lee, T., Leok, M., &amp; McClamroch, N. H. (2010). Geometric tracking control of a quadrotor UAV on SE(3).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96112" y="30358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E5A0"/>
                </a:solidFill>
              </a:rPr>
              <a:t>IEEE Conference on Decision and Control (CDC), 2010.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82880" y="3401568"/>
            <a:ext cx="502920" cy="658368"/>
          </a:xfrm>
          <a:prstGeom prst="rect">
            <a:avLst/>
          </a:prstGeom>
          <a:solidFill>
            <a:srgbClr val="00C2FF">
              <a:alpha val="20000"/>
            </a:srgbClr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82880" y="3401568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2FF"/>
                </a:solidFill>
              </a:rPr>
              <a:t>[4]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777240" y="3401568"/>
            <a:ext cx="8229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" y="3401568"/>
            <a:ext cx="36576" cy="6583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6112" y="3438144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Anderson, B. D. O., &amp; Moore, J. B. (1990). Optimal Control: Linear Quadratic Methods.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96112" y="3803904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2FF"/>
                </a:solidFill>
              </a:rPr>
              <a:t>Prentice-Hall, Englewood Cliffs, NJ, 1990.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182880" y="4169664"/>
            <a:ext cx="502920" cy="658368"/>
          </a:xfrm>
          <a:prstGeom prst="rect">
            <a:avLst/>
          </a:prstGeom>
          <a:solidFill>
            <a:srgbClr val="7B2FBE">
              <a:alpha val="20000"/>
            </a:srgbClr>
          </a:solidFill>
          <a:ln w="19050">
            <a:solidFill>
              <a:srgbClr val="7B2FB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82880" y="4169664"/>
            <a:ext cx="502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B2FBE"/>
                </a:solidFill>
              </a:rPr>
              <a:t>[5]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7240" y="4169664"/>
            <a:ext cx="8229600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7240" y="4169664"/>
            <a:ext cx="36576" cy="65836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96112" y="4206240"/>
            <a:ext cx="8046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Tarbouriech, S., Garcia, G., Gomes da Silva Jr., J. M., &amp; Queinnec, I. (2011). Stability and Stabilization of Linear Systems with Saturating Actuators.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96112" y="45720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B2FBE"/>
                </a:solidFill>
              </a:rPr>
              <a:t>Springer Science &amp; Business Media, 2011.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080" y="73152"/>
            <a:ext cx="9144000" cy="5070348"/>
          </a:xfrm>
          <a:prstGeom prst="rect">
            <a:avLst/>
          </a:prstGeom>
          <a:solidFill>
            <a:srgbClr val="060D1A"/>
          </a:solidFill>
          <a:ln w="12700">
            <a:solidFill>
              <a:srgbClr val="060D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639439" y="210311"/>
            <a:ext cx="3657600" cy="3200400"/>
          </a:xfrm>
          <a:prstGeom prst="ellipse">
            <a:avLst/>
          </a:prstGeom>
          <a:solidFill>
            <a:srgbClr val="7B2FBE">
              <a:alpha val="10000"/>
            </a:srgbClr>
          </a:solidFill>
          <a:ln w="12700">
            <a:solidFill>
              <a:srgbClr val="7B2FBE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91440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BABC7"/>
                </a:solidFill>
              </a:rPr>
              <a:t>Our Multi-Rate Hybrid PID+MPC controller demonstrates superior trajectory tracking under wind and payload disturbances, combining predictive optimality with fast reactive stabilization in a hardware-ready safety architecture.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286000" y="4297680"/>
            <a:ext cx="4572000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2FF"/>
                </a:solidFill>
              </a:rPr>
              <a:t>Thank You  ·  Questions?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1353</Words>
  <Application>Microsoft Office PowerPoint</Application>
  <PresentationFormat>On-screen Show (16:9)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Hybrid PID-MPC Control for Quadcopters</dc:title>
  <dc:subject>PptxGenJS Presentation</dc:subject>
  <dc:creator>PptxGenJS</dc:creator>
  <cp:lastModifiedBy>Meghana Sharma</cp:lastModifiedBy>
  <cp:revision>3</cp:revision>
  <dcterms:created xsi:type="dcterms:W3CDTF">2026-05-05T06:13:02Z</dcterms:created>
  <dcterms:modified xsi:type="dcterms:W3CDTF">2026-05-05T08:28:24Z</dcterms:modified>
</cp:coreProperties>
</file>